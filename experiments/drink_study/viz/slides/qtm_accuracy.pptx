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64653"/>
                </a:solidFill>
              </a:defRPr>
            </a:pPr>
            <a:r>
              <a:t>Validating video cup-tracking against QTM mocap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669 drinking reps · 22 participants · median 2.9 mm agreement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4653"/>
                </a:solidFill>
              </a:defRPr>
            </a:pPr>
            <a:r>
              <a:t>Methodology — data &amp; ground truth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What we compare and what counts as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Two independent recordings of the same drinking reps:</a:t>
            </a:r>
          </a:p>
          <a:p>
            <a:pPr lvl="1">
              <a:spcAft>
                <a:spcPts val="400"/>
              </a:spcAft>
              <a:defRPr sz="1500">
                <a:solidFill>
                  <a:srgbClr val="555555"/>
                </a:solidFill>
              </a:defRPr>
            </a:pPr>
            <a:r>
              <a:t>– QTM optical mocap — 4 markers on the cup, 100/120 Hz, sub-mm 6-DoF pose. This is the ground truth.</a:t>
            </a:r>
          </a:p>
          <a:p>
            <a:pPr lvl="1">
              <a:spcAft>
                <a:spcPts val="400"/>
              </a:spcAft>
              <a:defRPr sz="1500">
                <a:solidFill>
                  <a:srgbClr val="555555"/>
                </a:solidFill>
              </a:defRPr>
            </a:pPr>
            <a:r>
              <a:t>– Video cup track — 10 calibrated cameras, per-camera detections fused by ≥3-cam gated triangulation (consensus), then a Kalman filter + RTS smoother → one 3D cup centroid in mm.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Phases are segmented from the MOCAP trajectory (van Andel protocol: 6 Hz filter, velocity gates) → rest / forward-transport / drinking / back-transport / rest. GT-defined, so independent of video error.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669 valid drinking reps across 22 participants.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4653"/>
                </a:solidFill>
              </a:defRPr>
            </a:pPr>
            <a:r>
              <a:t>Methodology — pairing &amp; temporal sync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How a video rep is put in correspondence with mocap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Each video rep must be matched to its mocap take, then time-aligned:</a:t>
            </a:r>
          </a:p>
          <a:p>
            <a:pPr lvl="1">
              <a:spcAft>
                <a:spcPts val="400"/>
              </a:spcAft>
              <a:defRPr sz="1500">
                <a:solidFill>
                  <a:srgbClr val="555555"/>
                </a:solidFill>
              </a:defRPr>
            </a:pPr>
            <a:r>
              <a:t>– Pairing: mocap recorded extra/aborted takes, and drinking speed-curves are near-identical, so duration matching mis-registers. We pair by the order-preserving assignment that minimises 3D Kabsch fit residual (2 mm vs 30 mm is unambiguous).</a:t>
            </a:r>
          </a:p>
          <a:p>
            <a:pPr lvl="1">
              <a:spcAft>
                <a:spcPts val="400"/>
              </a:spcAft>
              <a:defRPr sz="1500">
                <a:solidFill>
                  <a:srgbClr val="555555"/>
                </a:solidFill>
              </a:defRPr>
            </a:pPr>
            <a:r>
              <a:t>– Sync: cross-correlate the two cup speed-curves; the lag at peak correlation aligns them in time. Reps below 0.7 correlation are rejected.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Ground-truth quality gate: mocap takes that are dead/static or have non-physical jumps are dropped before scoring, so a bad GT can never be charged as tracking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4653"/>
                </a:solidFill>
              </a:defRPr>
            </a:pPr>
            <a:r>
              <a:t>Methodology — error metric &amp; failure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From aligned trajectories to a failure 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After sync, fit a robust rigid transform (Huber-weighted Kabsch) so we measure trajectory SHAPE, not absolute placement.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Per frame: distance between the transformed video track and the mocap cup (mm). Two summary numbers per rep:</a:t>
            </a:r>
          </a:p>
          <a:p>
            <a:pPr lvl="1">
              <a:spcAft>
                <a:spcPts val="400"/>
              </a:spcAft>
              <a:defRPr sz="1500">
                <a:solidFill>
                  <a:srgbClr val="555555"/>
                </a:solidFill>
              </a:defRPr>
            </a:pPr>
            <a:r>
              <a:t>– inlier RMS — fidelity on the frames that agree (tracking accuracy).</a:t>
            </a:r>
          </a:p>
          <a:p>
            <a:pPr lvl="1">
              <a:spcAft>
                <a:spcPts val="400"/>
              </a:spcAft>
              <a:defRPr sz="1500">
                <a:solidFill>
                  <a:srgbClr val="555555"/>
                </a:solidFill>
              </a:defRPr>
            </a:pPr>
            <a:r>
              <a:t>– frac_fail — fraction of the trajectory &gt;50 mm off (coverage of failure).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A frame 'fails' when the mocap–video distance exceeds 50 mm. Each failing frame is attributed to its mocap phase to localise WHERE tracking breaks.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Driver analysis: logistic regression of per-frame failure on physical factors (cup-near-mouth, hand-on-cup, speed), with cluster-bootstrap CIs (resample reps, not frames).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Methodology — pipeline at a glance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Mocap (sub-mm) is the ground truth; we measure how close the video track lands.</a:t>
            </a:r>
          </a:p>
        </p:txBody>
      </p:sp>
      <p:pic>
        <p:nvPicPr>
          <p:cNvPr id="3" name="Picture 2" descr="fig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371600"/>
            <a:ext cx="11247120" cy="38167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How each rep is scored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Two numbers: fidelity where it tracks, and how much of the trajectory fails.</a:t>
            </a:r>
          </a:p>
        </p:txBody>
      </p:sp>
      <p:pic>
        <p:nvPicPr>
          <p:cNvPr id="3" name="Picture 2" descr="fig2_method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371600"/>
            <a:ext cx="11247120" cy="40041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Result: agreement to a few millimetres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Median 2.9 mm, p90 6.0 mm over 669 reps.</a:t>
            </a:r>
          </a:p>
        </p:txBody>
      </p:sp>
      <p:pic>
        <p:nvPicPr>
          <p:cNvPr id="3" name="Picture 2" descr="fig3_rms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93" y="1371600"/>
            <a:ext cx="939250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Result: accuracy classes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72% clean, 28% localized (brief occluded apex), 0 broken.</a:t>
            </a:r>
          </a:p>
        </p:txBody>
      </p:sp>
      <p:pic>
        <p:nvPicPr>
          <p:cNvPr id="3" name="Picture 2" descr="fig4_clas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062" y="1371600"/>
            <a:ext cx="889757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Result: fidelity vs failure coverage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Every rep tracks &lt;15 mm; the class only reflects the occluded drink apex.</a:t>
            </a:r>
          </a:p>
        </p:txBody>
      </p:sp>
      <p:pic>
        <p:nvPicPr>
          <p:cNvPr id="3" name="Picture 2" descr="fig5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256" y="1371600"/>
            <a:ext cx="801318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Result: consistent across participants</a:t>
            </a:r>
          </a:p>
        </p:txBody>
      </p:sp>
      <p:pic>
        <p:nvPicPr>
          <p:cNvPr id="3" name="Picture 2" descr="fig6_per_particip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371600"/>
            <a:ext cx="11247120" cy="51930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Result: failure is confined to the drinking phase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Rest phases ~0% fail (2–3 mm); only the occluded mouth dwell drives error.</a:t>
            </a:r>
          </a:p>
        </p:txBody>
      </p:sp>
      <p:pic>
        <p:nvPicPr>
          <p:cNvPr id="3" name="Picture 2" descr="fig7_fracfail_by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53" y="1371600"/>
            <a:ext cx="975638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Result: where within the phase failure peaks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Failure rate peaks mid-drinking — the apex where the cup reaches the mouth.</a:t>
            </a:r>
          </a:p>
        </p:txBody>
      </p:sp>
      <p:pic>
        <p:nvPicPr>
          <p:cNvPr id="3" name="Picture 2" descr="fig8_within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327" y="1371600"/>
            <a:ext cx="98450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Result: what drives failure (untangled)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Cup-near-mouth dominates; hand-on-cup is a gate (fail only when on); speed is non-monotonic (slow@mouth, fast@transport).</a:t>
            </a:r>
          </a:p>
        </p:txBody>
      </p:sp>
      <p:pic>
        <p:nvPicPr>
          <p:cNvPr id="3" name="Picture 2" descr="fig9_failure_f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371600"/>
            <a:ext cx="11247120" cy="38012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Result: confirmed on all 669 reps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Mocap proxy (cup displacement-from-rest, validated r≈−0.99 vs real cup→mouth): failure rises ~0%→31% with reach to the mouth.</a:t>
            </a:r>
          </a:p>
        </p:txBody>
      </p:sp>
      <p:pic>
        <p:nvPicPr>
          <p:cNvPr id="3" name="Picture 2" descr="fig10_near_mouth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411" y="1371600"/>
            <a:ext cx="937687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Result: speed × position (and the KF's role)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Slow fails more at the mouth, fast in transport — the sign-flip survives in the RAW track, so the interaction is real; the overall speed level is partly KF lag.</a:t>
            </a:r>
          </a:p>
        </p:txBody>
      </p:sp>
      <p:pic>
        <p:nvPicPr>
          <p:cNvPr id="3" name="Picture 2" descr="fig11_speed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371600"/>
            <a:ext cx="11247120" cy="41381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Can we improve the interpolator?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No — KF tuning, occlusion-hold, a GP, and a learned drink-shape prior all fail to beat ~20 mm (the shape prior was worse on matched reps). Occlusion at the mouth is near-universal and mostly confident-WRONG consensus, not a fillable gap; the fix is better input (camera view / appearance gating), not a better filter or prior.</a:t>
            </a:r>
          </a:p>
        </p:txBody>
      </p:sp>
      <p:pic>
        <p:nvPicPr>
          <p:cNvPr id="3" name="Picture 2" descr="fig12_interp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09" y="1371600"/>
            <a:ext cx="786107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Footnote: rep–take pairing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Mocap recorded more takes than the video annotation logged (extra / aborted captures).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Drinking speed curves are near-identical, so duration-based pairing mis-registered one side (P02 right).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Fix: pair each rep to its take by the order-preserving assignment that minimises Kabsch fit residual (2 mm vs 30 mm is unambiguous).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Effect: P02 broken reps 2 → 0; cohort broken 2 → 0; all other participants unchanged.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