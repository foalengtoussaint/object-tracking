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64653"/>
                </a:solidFill>
              </a:defRPr>
            </a:pPr>
            <a:r>
              <a:t>Markerless cup tracking, end to end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Detection → 3D fusion → tracking accuracy → phase segmentation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Validated on 669 drinking reps · 22 participants · median 2.9 mm vs QTM mocap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The pipeline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10 cameras → per-camera detection → ≥3-cam consensus + KF/RTS → one 3D cup track, validated frame-by-frame against sub-mm mocap.</a:t>
            </a:r>
          </a:p>
        </p:txBody>
      </p:sp>
      <p:pic>
        <p:nvPicPr>
          <p:cNvPr id="3" name="Picture 2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17320"/>
            <a:ext cx="11247120" cy="38167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It tracks to a few millimetres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Per-rep inlier RMS vs mocap: median 2.9 mm, p90 6.0 mm over 669 reps — and consistent across all 22 participants.</a:t>
            </a:r>
          </a:p>
        </p:txBody>
      </p:sp>
      <p:pic>
        <p:nvPicPr>
          <p:cNvPr id="3" name="Picture 2" descr="fig3_rms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983" y="1417320"/>
            <a:ext cx="922772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…except at the drinking apex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Failure is one continuous arc: ~0% in rest/transport, peaking mid-drink where the cup reaches the mouth. Everything downstream is about that apex.</a:t>
            </a:r>
          </a:p>
        </p:txBody>
      </p:sp>
      <p:pic>
        <p:nvPicPr>
          <p:cNvPr id="3" name="Picture 2" descr="fig8_within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1417320"/>
            <a:ext cx="96723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Why it fails: cup at the mouth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Cup-near-mouth dominates (and is least confounded); hand-on-cup is a gate; speed is non-monotonic. At the mouth the cameras are occluded and the consensus is confidently WRONG.</a:t>
            </a:r>
          </a:p>
        </p:txBody>
      </p:sp>
      <p:pic>
        <p:nvPicPr>
          <p:cNvPr id="3" name="Picture 2" descr="fig9_failure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17320"/>
            <a:ext cx="11247120" cy="38012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The apex is not a fillable gap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KF-tuning, occlusion-hold, a GP and a learned shape-prior all stall at the ~20 mm floor — the failure is confident-wrong occlusion, not missing data.</a:t>
            </a:r>
          </a:p>
        </p:txBody>
      </p:sp>
      <p:pic>
        <p:nvPicPr>
          <p:cNvPr id="3" name="Picture 2" descr="fig12_interp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266" y="1417320"/>
            <a:ext cx="772316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But short gaps ARE fillable — predict movement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Velocity-fill TCN predicts the cup's MOVEMENT (not position) across occlusion: −13% median / −33% p90 at the apex vs KF coast. (Only LOPO-surviving gains kept.)</a:t>
            </a:r>
          </a:p>
        </p:txBody>
      </p:sp>
      <p:pic>
        <p:nvPicPr>
          <p:cNvPr id="3" name="Picture 2" descr="fig_tcn_gap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12" y="1417320"/>
            <a:ext cx="837287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Phase segmentation: from a gate to a learned model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Cup-only dwell segmentation. Learning beats the gate on the TYPICAL rep once (median 133→~110), then flat; richer 3D-direction + occlusion features don't move the median further — they cut the EXTREME tail where a scalar gate structurally fails (p99 1056→700, max 3617→2067). Honest trade: hybrid over-extends ~26 easy reps — ship is a judgment call, gate still in production.</a:t>
            </a:r>
          </a:p>
        </p:txBody>
      </p:sp>
      <p:pic>
        <p:nvPicPr>
          <p:cNvPr id="3" name="Picture 2" descr="fig14_segm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691640"/>
            <a:ext cx="11247120" cy="4326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The catch: our 'truth' is itself imperfect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P23 cam4. Green = frames the HYBRID calls drinking but the mocap speed-gate 'truth' excludes. The cup is at the mouth in ALL of them — the model is MORE right than its label.</a:t>
            </a:r>
          </a:p>
        </p:txBody>
      </p:sp>
      <p:pic>
        <p:nvPicPr>
          <p:cNvPr id="3" name="Picture 2" descr="fig13_disput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103120"/>
            <a:ext cx="11247120" cy="20161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Truth = cup-nearly-STILL (speed gate, no mouth marker); real drinking = cup-AT-MOUTH, which brackets the still-phase. Some 'regressions' are the model catching onset/offset the label misses. True validation needs a mouth/face marker.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4653"/>
                </a:solidFill>
              </a:defRPr>
            </a:pPr>
            <a:r>
              <a:t>Where it stands &amp; what's open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Summary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22222"/>
                </a:solidFill>
              </a:defRPr>
            </a:pPr>
            <a:r>
              <a:t>• Tracking: markerless video matches sub-mm mocap to a few mm; 0 broken reps.</a:t>
            </a:r>
          </a:p>
          <a:p>
            <a:pPr>
              <a:spcAft>
                <a:spcPts val="900"/>
              </a:spcAft>
              <a:defRPr sz="1900">
                <a:solidFill>
                  <a:srgbClr val="222222"/>
                </a:solidFill>
              </a:defRPr>
            </a:pPr>
            <a:r>
              <a:t>• The only failure is the occluded drinking apex — confident-wrong consensus, not a fillable gap; better INPUT (view/appearance gating) is the lever, not a better filter.</a:t>
            </a:r>
          </a:p>
          <a:p>
            <a:pPr>
              <a:spcAft>
                <a:spcPts val="900"/>
              </a:spcAft>
              <a:defRPr sz="1900">
                <a:solidFill>
                  <a:srgbClr val="222222"/>
                </a:solidFill>
              </a:defRPr>
            </a:pPr>
            <a:r>
              <a:t>• Gap-fill: velocity-fill TCN recovers short apex gaps by predicting movement.</a:t>
            </a:r>
          </a:p>
          <a:p>
            <a:pPr>
              <a:spcAft>
                <a:spcPts val="900"/>
              </a:spcAft>
              <a:defRPr sz="1900">
                <a:solidFill>
                  <a:srgbClr val="222222"/>
                </a:solidFill>
              </a:defRPr>
            </a:pPr>
            <a:r>
              <a:t>• Segmentation: hybrid learned segmenter beats the tuned gate on mean + tail (a trade).</a:t>
            </a:r>
          </a:p>
          <a:p>
            <a:pPr>
              <a:spcAft>
                <a:spcPts val="900"/>
              </a:spcAft>
              <a:defRPr sz="1900">
                <a:solidFill>
                  <a:srgbClr val="222222"/>
                </a:solidFill>
              </a:defRPr>
            </a:pPr>
            <a:r>
              <a:t>• Open — the real frontier:</a:t>
            </a:r>
          </a:p>
          <a:p>
            <a:pPr lvl="1">
              <a:spcAft>
                <a:spcPts val="400"/>
              </a:spcAft>
              <a:defRPr sz="1500">
                <a:solidFill>
                  <a:srgbClr val="555555"/>
                </a:solidFill>
              </a:defRPr>
            </a:pPr>
            <a:r>
              <a:t>– Add a mouth/face marker (van Andel 15%-of-steady-state) for a behaviourally correct dwell truth — our current speed-gate label is provably late.</a:t>
            </a:r>
          </a:p>
          <a:p>
            <a:pPr lvl="1">
              <a:spcAft>
                <a:spcPts val="400"/>
              </a:spcAft>
              <a:defRPr sz="1500">
                <a:solidFill>
                  <a:srgbClr val="555555"/>
                </a:solidFill>
              </a:defRPr>
            </a:pPr>
            <a:r>
              <a:t>– Decide ship: hybrid (worst-case/mean) vs tuned gate (never breaks easy reps).</a:t>
            </a:r>
          </a:p>
          <a:p>
            <a:pPr lvl="1">
              <a:spcAft>
                <a:spcPts val="400"/>
              </a:spcAft>
              <a:defRPr sz="1500">
                <a:solidFill>
                  <a:srgbClr val="555555"/>
                </a:solidFill>
              </a:defRPr>
            </a:pPr>
            <a:r>
              <a:t>– Port consensus-anchored KF into run_pipeline.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